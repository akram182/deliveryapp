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63" r:id="rId2"/>
    <p:sldId id="267" r:id="rId3"/>
    <p:sldId id="269" r:id="rId4"/>
    <p:sldId id="266" r:id="rId5"/>
    <p:sldId id="265" r:id="rId6"/>
    <p:sldId id="271" r:id="rId7"/>
    <p:sldId id="270" r:id="rId8"/>
    <p:sldId id="264" r:id="rId9"/>
    <p:sldId id="268" r:id="rId10"/>
  </p:sldIdLst>
  <p:sldSz cx="14630400" cy="8229600"/>
  <p:notesSz cx="8229600" cy="14630400"/>
  <p:embeddedFontLst>
    <p:embeddedFont>
      <p:font typeface="Cal Sans" panose="020B0604020202020204" charset="0"/>
      <p:regular r:id="rId12"/>
    </p:embeddedFont>
    <p:embeddedFont>
      <p:font typeface="Inter Tight" panose="020B0604020202020204" charset="0"/>
      <p:regular r:id="rId1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EF8"/>
    <a:srgbClr val="FCFB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468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2173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02C193E7-21F1-5F3C-4D3B-F9A168DA85FD}"/>
              </a:ext>
            </a:extLst>
          </p:cNvPr>
          <p:cNvSpPr/>
          <p:nvPr/>
        </p:nvSpPr>
        <p:spPr>
          <a:xfrm>
            <a:off x="1038941" y="527686"/>
            <a:ext cx="854320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Курсовая работа</a:t>
            </a:r>
            <a:r>
              <a:rPr lang="en-US" sz="445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:</a:t>
            </a:r>
            <a:endParaRPr lang="ru-RU" sz="4450" dirty="0">
              <a:solidFill>
                <a:srgbClr val="3B4540"/>
              </a:solidFill>
              <a:latin typeface="Cal Sans" pitchFamily="34" charset="0"/>
              <a:ea typeface="Cal Sans" pitchFamily="34" charset="-122"/>
              <a:cs typeface="Cal Sans" pitchFamily="34" charset="-120"/>
            </a:endParaRPr>
          </a:p>
          <a:p>
            <a:pPr marL="0" indent="0" algn="l">
              <a:lnSpc>
                <a:spcPts val="5550"/>
              </a:lnSpc>
              <a:buNone/>
            </a:pPr>
            <a:r>
              <a:rPr lang="ru-RU" sz="445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С</a:t>
            </a:r>
            <a:r>
              <a:rPr lang="en-US" sz="4450" dirty="0" err="1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ервис</a:t>
            </a:r>
            <a:r>
              <a:rPr lang="ru-RU" sz="445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 по </a:t>
            </a:r>
            <a:r>
              <a:rPr lang="en-US" sz="4450" dirty="0" err="1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доставки</a:t>
            </a:r>
            <a:r>
              <a:rPr lang="en-US" sz="445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 </a:t>
            </a:r>
            <a:r>
              <a:rPr lang="ru-RU" sz="445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продуктов</a:t>
            </a:r>
            <a:endParaRPr lang="en-US" sz="44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FB54C92-CD34-50F8-B8A3-CCF229881994}"/>
              </a:ext>
            </a:extLst>
          </p:cNvPr>
          <p:cNvSpPr/>
          <p:nvPr/>
        </p:nvSpPr>
        <p:spPr>
          <a:xfrm>
            <a:off x="7823239" y="61917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ru-RU" sz="200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Куратор</a:t>
            </a:r>
            <a:r>
              <a:rPr lang="en-US" sz="200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:</a:t>
            </a:r>
            <a:r>
              <a:rPr lang="ru-RU" sz="200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Восточный Владислав Александрович</a:t>
            </a:r>
          </a:p>
          <a:p>
            <a:pPr>
              <a:lnSpc>
                <a:spcPts val="5550"/>
              </a:lnSpc>
            </a:pPr>
            <a:r>
              <a:rPr lang="ru-RU" sz="200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Выполнил</a:t>
            </a:r>
            <a:r>
              <a:rPr lang="en-US" sz="200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:</a:t>
            </a:r>
            <a:r>
              <a:rPr lang="ru-RU" sz="200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Ёдгаров Акрам Акмалович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2385501-AB26-B928-BB5A-27177AC6B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56" y="2541985"/>
            <a:ext cx="7183789" cy="509087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668964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E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E686B3-452B-51F7-6904-A9A2AA219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3C49B26-2297-AA72-481C-A59C9E9AD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0867" y="2581275"/>
            <a:ext cx="1428750" cy="1428750"/>
          </a:xfrm>
          <a:prstGeom prst="rect">
            <a:avLst/>
          </a:prstGeom>
        </p:spPr>
      </p:pic>
      <p:sp>
        <p:nvSpPr>
          <p:cNvPr id="2" name="Text 1">
            <a:extLst>
              <a:ext uri="{FF2B5EF4-FFF2-40B4-BE49-F238E27FC236}">
                <a16:creationId xmlns:a16="http://schemas.microsoft.com/office/drawing/2014/main" id="{1C1CC524-AC56-DCFB-06A4-D2C8B4A73A85}"/>
              </a:ext>
            </a:extLst>
          </p:cNvPr>
          <p:cNvSpPr/>
          <p:nvPr/>
        </p:nvSpPr>
        <p:spPr>
          <a:xfrm>
            <a:off x="6042066" y="431484"/>
            <a:ext cx="2825709" cy="997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ru-RU" sz="600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Стек</a:t>
            </a:r>
            <a:endParaRPr lang="en-US" sz="6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B0B002-7A85-F767-CC20-B247325A5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3142" y="2581275"/>
            <a:ext cx="1428750" cy="142875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6F5DF8B-0AF2-18F0-2DD8-4D468E18E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263" y="6178866"/>
            <a:ext cx="1428750" cy="142875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AF707BB-C11E-7838-B7F3-B6C45B08FF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388" y="6178866"/>
            <a:ext cx="1428750" cy="142875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F690CAB-6F4F-CAE5-1B75-02191A01D3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0623" y="2581275"/>
            <a:ext cx="1428750" cy="142875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3111F81-0BA6-AA36-FB2C-236DFAEEF3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8510" y="2658904"/>
            <a:ext cx="1428750" cy="1428750"/>
          </a:xfrm>
          <a:prstGeom prst="rect">
            <a:avLst/>
          </a:prstGeom>
        </p:spPr>
      </p:pic>
      <p:sp>
        <p:nvSpPr>
          <p:cNvPr id="17" name="Shape 3">
            <a:extLst>
              <a:ext uri="{FF2B5EF4-FFF2-40B4-BE49-F238E27FC236}">
                <a16:creationId xmlns:a16="http://schemas.microsoft.com/office/drawing/2014/main" id="{6CB44FF5-9D85-D546-67D2-D7647CE6A4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25002" y="758667"/>
            <a:ext cx="4257673" cy="1651158"/>
          </a:xfrm>
          <a:prstGeom prst="roundRect">
            <a:avLst>
              <a:gd name="adj" fmla="val 15387"/>
            </a:avLst>
          </a:prstGeom>
          <a:solidFill>
            <a:srgbClr val="CCE6D1"/>
          </a:solidFill>
          <a:ln/>
        </p:spPr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143C71C-C57D-CF84-EAC5-3DF3580502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98058" y="1428750"/>
            <a:ext cx="391155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600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Frontend</a:t>
            </a:r>
            <a:endParaRPr lang="en-US" sz="6000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8F45C533-C7E4-55AB-D3B1-4B3E5B28319B}"/>
              </a:ext>
            </a:extLst>
          </p:cNvPr>
          <p:cNvSpPr/>
          <p:nvPr/>
        </p:nvSpPr>
        <p:spPr>
          <a:xfrm>
            <a:off x="847725" y="772955"/>
            <a:ext cx="4257673" cy="1651158"/>
          </a:xfrm>
          <a:prstGeom prst="roundRect">
            <a:avLst>
              <a:gd name="adj" fmla="val 15387"/>
            </a:avLst>
          </a:prstGeom>
          <a:solidFill>
            <a:srgbClr val="CCE6D1"/>
          </a:solidFill>
          <a:ln/>
        </p:spPr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9E03E48F-FE71-F604-E297-2B8FA771E6CF}"/>
              </a:ext>
            </a:extLst>
          </p:cNvPr>
          <p:cNvSpPr/>
          <p:nvPr/>
        </p:nvSpPr>
        <p:spPr>
          <a:xfrm>
            <a:off x="1020781" y="1443038"/>
            <a:ext cx="391155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600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Backend</a:t>
            </a:r>
            <a:endParaRPr lang="en-US" sz="6000" dirty="0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1AD192AD-91D8-E4F4-1EC9-EEC5D913E4D2}"/>
              </a:ext>
            </a:extLst>
          </p:cNvPr>
          <p:cNvSpPr/>
          <p:nvPr/>
        </p:nvSpPr>
        <p:spPr>
          <a:xfrm>
            <a:off x="5105398" y="4145279"/>
            <a:ext cx="4257673" cy="1651158"/>
          </a:xfrm>
          <a:prstGeom prst="roundRect">
            <a:avLst>
              <a:gd name="adj" fmla="val 15387"/>
            </a:avLst>
          </a:prstGeom>
          <a:solidFill>
            <a:srgbClr val="CCE6D1"/>
          </a:solidFill>
          <a:ln/>
        </p:spPr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0D04DB36-3446-9ACB-9F2A-998D76F1250C}"/>
              </a:ext>
            </a:extLst>
          </p:cNvPr>
          <p:cNvSpPr/>
          <p:nvPr/>
        </p:nvSpPr>
        <p:spPr>
          <a:xfrm>
            <a:off x="5278454" y="4829887"/>
            <a:ext cx="391155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600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Database</a:t>
            </a:r>
          </a:p>
          <a:p>
            <a:pPr marL="0" indent="0" algn="ctr">
              <a:lnSpc>
                <a:spcPts val="4450"/>
              </a:lnSpc>
              <a:buNone/>
            </a:pP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405958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E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7FCCD1-EB51-F9C6-3E2A-B11339113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3">
            <a:extLst>
              <a:ext uri="{FF2B5EF4-FFF2-40B4-BE49-F238E27FC236}">
                <a16:creationId xmlns:a16="http://schemas.microsoft.com/office/drawing/2014/main" id="{2D393EEF-9B30-F246-776B-D6E687AF454F}"/>
              </a:ext>
            </a:extLst>
          </p:cNvPr>
          <p:cNvSpPr/>
          <p:nvPr/>
        </p:nvSpPr>
        <p:spPr>
          <a:xfrm>
            <a:off x="10263965" y="1555670"/>
            <a:ext cx="3493532" cy="1274088"/>
          </a:xfrm>
          <a:prstGeom prst="roundRect">
            <a:avLst>
              <a:gd name="adj" fmla="val 15387"/>
            </a:avLst>
          </a:prstGeom>
          <a:solidFill>
            <a:srgbClr val="CCE6D1"/>
          </a:solidFill>
          <a:ln/>
        </p:spPr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0E5A75FA-14CC-E7AE-A998-D194563B08E4}"/>
              </a:ext>
            </a:extLst>
          </p:cNvPr>
          <p:cNvSpPr/>
          <p:nvPr/>
        </p:nvSpPr>
        <p:spPr>
          <a:xfrm>
            <a:off x="4754287" y="1555670"/>
            <a:ext cx="4599264" cy="1274088"/>
          </a:xfrm>
          <a:prstGeom prst="roundRect">
            <a:avLst>
              <a:gd name="adj" fmla="val 15387"/>
            </a:avLst>
          </a:prstGeom>
          <a:solidFill>
            <a:srgbClr val="CCE6D1"/>
          </a:solidFill>
          <a:ln/>
        </p:spPr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399BF45F-A448-7C46-87A0-1C3C7CA2B1CD}"/>
              </a:ext>
            </a:extLst>
          </p:cNvPr>
          <p:cNvSpPr/>
          <p:nvPr/>
        </p:nvSpPr>
        <p:spPr>
          <a:xfrm>
            <a:off x="320040" y="1555670"/>
            <a:ext cx="3711535" cy="1274088"/>
          </a:xfrm>
          <a:prstGeom prst="roundRect">
            <a:avLst>
              <a:gd name="adj" fmla="val 15387"/>
            </a:avLst>
          </a:prstGeom>
          <a:solidFill>
            <a:srgbClr val="CCE6D1"/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41C76C9-4BD3-7B57-9F66-8467FE6F4840}"/>
              </a:ext>
            </a:extLst>
          </p:cNvPr>
          <p:cNvSpPr/>
          <p:nvPr/>
        </p:nvSpPr>
        <p:spPr>
          <a:xfrm>
            <a:off x="5366981" y="503634"/>
            <a:ext cx="4416385" cy="910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ru-RU" sz="355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Единая платформа</a:t>
            </a:r>
            <a:endParaRPr lang="en-US" sz="35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53A481C-2949-26C5-0104-18BAC0E54DBE}"/>
              </a:ext>
            </a:extLst>
          </p:cNvPr>
          <p:cNvSpPr/>
          <p:nvPr/>
        </p:nvSpPr>
        <p:spPr>
          <a:xfrm>
            <a:off x="241340" y="2046208"/>
            <a:ext cx="3711535" cy="910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ru-RU" sz="4000" dirty="0">
                <a:solidFill>
                  <a:srgbClr val="40544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Заказчик</a:t>
            </a:r>
            <a:endParaRPr lang="en-US" sz="40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839C63C-598E-0079-D70A-B80A3475DA51}"/>
              </a:ext>
            </a:extLst>
          </p:cNvPr>
          <p:cNvSpPr/>
          <p:nvPr/>
        </p:nvSpPr>
        <p:spPr>
          <a:xfrm>
            <a:off x="10154961" y="2046208"/>
            <a:ext cx="3493532" cy="910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ru-RU" sz="4000" dirty="0">
                <a:solidFill>
                  <a:srgbClr val="40544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Курьер</a:t>
            </a:r>
            <a:endParaRPr lang="en-US" sz="40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A17A7896-154D-FBEE-FEC5-33A38D87457E}"/>
              </a:ext>
            </a:extLst>
          </p:cNvPr>
          <p:cNvSpPr/>
          <p:nvPr/>
        </p:nvSpPr>
        <p:spPr>
          <a:xfrm>
            <a:off x="5276850" y="2046208"/>
            <a:ext cx="4076700" cy="78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4000" dirty="0">
                <a:solidFill>
                  <a:srgbClr val="40544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Администратор</a:t>
            </a:r>
            <a:endParaRPr lang="en-US" sz="40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46C866D-83A0-11B8-F17E-1A4FA6C2A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80" y="3946989"/>
            <a:ext cx="3217488" cy="321748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A6FB1C1-20E4-EB1F-078A-F386031C5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417" y="3792912"/>
            <a:ext cx="3371565" cy="337156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B5112A6-6DE0-44F3-2B6C-3F22C9298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6710" y="3792912"/>
            <a:ext cx="3371565" cy="3371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540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E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6B1BEA-3024-55E2-96C6-6D4D7C8D6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D00FA66-DBCE-3A67-D65A-48A7BB6E1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1248728"/>
            <a:ext cx="5040035" cy="504003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904877F-E6A7-972C-088A-38BEC2CB8A29}"/>
              </a:ext>
            </a:extLst>
          </p:cNvPr>
          <p:cNvSpPr/>
          <p:nvPr/>
        </p:nvSpPr>
        <p:spPr>
          <a:xfrm>
            <a:off x="7544157" y="919401"/>
            <a:ext cx="630007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Безопасность, целостность и фронтенд</a:t>
            </a:r>
            <a:endParaRPr lang="en-US" sz="28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269B333-254E-486E-CA7E-08DEE9EAECAB}"/>
              </a:ext>
            </a:extLst>
          </p:cNvPr>
          <p:cNvSpPr/>
          <p:nvPr/>
        </p:nvSpPr>
        <p:spPr>
          <a:xfrm>
            <a:off x="8264009" y="1989892"/>
            <a:ext cx="2339459" cy="5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JWT-аутентификация</a:t>
            </a:r>
            <a:endParaRPr lang="en-US" sz="17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DE8EC330-76F5-B312-1769-C32BFB433A6A}"/>
              </a:ext>
            </a:extLst>
          </p:cNvPr>
          <p:cNvSpPr/>
          <p:nvPr/>
        </p:nvSpPr>
        <p:spPr>
          <a:xfrm>
            <a:off x="8264009" y="2702004"/>
            <a:ext cx="2339459" cy="1306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Раздельные токены для клиентов, курьеров и администраторов. Рефреш-токены с ограничением сессий и ревокацией.</a:t>
            </a:r>
            <a:endParaRPr lang="en-US" sz="14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EC253A40-6C5C-7399-35DE-EBC42A406945}"/>
              </a:ext>
            </a:extLst>
          </p:cNvPr>
          <p:cNvSpPr/>
          <p:nvPr/>
        </p:nvSpPr>
        <p:spPr>
          <a:xfrm>
            <a:off x="11504771" y="1989892"/>
            <a:ext cx="2339459" cy="5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Валидация на границах</a:t>
            </a:r>
            <a:endParaRPr lang="en-US" sz="175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92645B32-2809-3FD7-EBC4-AAFCBF3E106C}"/>
              </a:ext>
            </a:extLst>
          </p:cNvPr>
          <p:cNvSpPr/>
          <p:nvPr/>
        </p:nvSpPr>
        <p:spPr>
          <a:xfrm>
            <a:off x="11504771" y="2702004"/>
            <a:ext cx="2339459" cy="1306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Строгая типизация запросов (DTO, FluentValidation) защищает от некорректных и злонамеренных данных.</a:t>
            </a:r>
            <a:endParaRPr lang="en-US" sz="14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56856AE8-F706-F713-D5E7-B461264FA7AF}"/>
              </a:ext>
            </a:extLst>
          </p:cNvPr>
          <p:cNvSpPr/>
          <p:nvPr/>
        </p:nvSpPr>
        <p:spPr>
          <a:xfrm>
            <a:off x="8264009" y="4298394"/>
            <a:ext cx="2339459" cy="5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Транзакции и конкурентность</a:t>
            </a:r>
            <a:endParaRPr lang="en-US" sz="175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3F50D28B-A302-8B18-2488-66E6F1FEFEFD}"/>
              </a:ext>
            </a:extLst>
          </p:cNvPr>
          <p:cNvSpPr/>
          <p:nvPr/>
        </p:nvSpPr>
        <p:spPr>
          <a:xfrm>
            <a:off x="8264009" y="5010507"/>
            <a:ext cx="2339459" cy="1306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Атомарные транзакции EF Core для защиты баланса клиента и предотвращения двойного списания при конкурентных заказах.</a:t>
            </a:r>
            <a:endParaRPr lang="en-US" sz="1400" dirty="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D24BEE96-FC03-2C41-26F6-03AD16828C28}"/>
              </a:ext>
            </a:extLst>
          </p:cNvPr>
          <p:cNvSpPr/>
          <p:nvPr/>
        </p:nvSpPr>
        <p:spPr>
          <a:xfrm>
            <a:off x="793790" y="6971943"/>
            <a:ext cx="13042821" cy="13573"/>
          </a:xfrm>
          <a:prstGeom prst="rect">
            <a:avLst/>
          </a:prstGeom>
          <a:solidFill>
            <a:srgbClr val="405449">
              <a:alpha val="50000"/>
            </a:srgbClr>
          </a:solidFill>
          <a:ln/>
        </p:spPr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A86F197-6174-A7B7-1BA9-8D4088E0C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706" y="1886762"/>
            <a:ext cx="773235" cy="77323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EFE5D22-E285-5B1A-CF92-833E70BE41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8086" y="2044180"/>
            <a:ext cx="596330" cy="59633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B9F10AC-2BB2-2B3A-1ED0-09089030BD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524" y="4232083"/>
            <a:ext cx="699598" cy="69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983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E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30CBCA-D94D-FB88-4B8C-C76B9B243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BF0A8CF-C29E-A317-9661-74BB86E93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651" y="936149"/>
            <a:ext cx="3325600" cy="2356725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B7A0E460-67CC-78DA-FCF3-621AB7AD3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936149"/>
            <a:ext cx="3325602" cy="2356725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3BF202CC-9CD6-C7C6-E81E-E002FCE04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80" y="4114800"/>
            <a:ext cx="4959667" cy="3514725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3F0F1F04-D8AE-BB14-0ED8-41897A58F8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1236" y="416324"/>
            <a:ext cx="659010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665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E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0A7F37-733B-7E5B-AC9A-5F761B4EA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74DB9EB-8844-7782-A19E-1B0000B8A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99" y="744853"/>
            <a:ext cx="4143375" cy="313804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54C43D5-351C-F6AD-5956-6D0E574A5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216" y="744853"/>
            <a:ext cx="3956683" cy="299664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00548ED-6096-C319-5020-BD5F7104F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887" y="4275857"/>
            <a:ext cx="4366720" cy="330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42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E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3BD709-488F-6A62-1C72-92633669A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99DA0C-A2B4-A1A4-73F2-CEDFB72EE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15" y="1026162"/>
            <a:ext cx="5375910" cy="407151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D3F4C7E-9D74-236C-A1C7-15DC06570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999" y="1026162"/>
            <a:ext cx="5223509" cy="395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468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E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9EAC03-341D-0F82-C98F-E1228C7C0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D3CC3AB-3604-2E3A-CE96-F351CD277C96}"/>
              </a:ext>
            </a:extLst>
          </p:cNvPr>
          <p:cNvSpPr/>
          <p:nvPr/>
        </p:nvSpPr>
        <p:spPr>
          <a:xfrm>
            <a:off x="6919674" y="2056567"/>
            <a:ext cx="6924437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Проектирование базы данных — PostgreSQL</a:t>
            </a:r>
            <a:endParaRPr lang="en-US" sz="35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8484467-3AB6-5374-E47A-E3B2E57E34BC}"/>
              </a:ext>
            </a:extLst>
          </p:cNvPr>
          <p:cNvSpPr/>
          <p:nvPr/>
        </p:nvSpPr>
        <p:spPr>
          <a:xfrm>
            <a:off x="6919674" y="3417332"/>
            <a:ext cx="69244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Нормализованная схема: Users, Orders, </a:t>
            </a:r>
            <a:r>
              <a:rPr lang="en-US" sz="1750" dirty="0" err="1">
                <a:solidFill>
                  <a:srgbClr val="40544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OrderItems</a:t>
            </a:r>
            <a:r>
              <a:rPr lang="en-US" sz="1750" dirty="0">
                <a:solidFill>
                  <a:srgbClr val="40544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, Couriers, Payments.</a:t>
            </a:r>
            <a:endParaRPr lang="en-US" sz="175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B18C523-6BD4-E0D3-82A7-B1BC2428E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83" y="1414182"/>
            <a:ext cx="6078742" cy="5401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329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E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F1A00C-F615-3772-CA06-658CB6EB9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871411B-3D7C-763D-05EA-3F8755C41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73763"/>
            <a:ext cx="14630400" cy="921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08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105</Words>
  <Application>Microsoft Office PowerPoint</Application>
  <PresentationFormat>Произвольный</PresentationFormat>
  <Paragraphs>21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Cal Sans</vt:lpstr>
      <vt:lpstr>Inter Tight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YodgarovInc</cp:lastModifiedBy>
  <cp:revision>8</cp:revision>
  <dcterms:created xsi:type="dcterms:W3CDTF">2026-04-27T18:05:43Z</dcterms:created>
  <dcterms:modified xsi:type="dcterms:W3CDTF">2026-04-28T12:11:10Z</dcterms:modified>
</cp:coreProperties>
</file>